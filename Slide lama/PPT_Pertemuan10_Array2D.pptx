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06B6D4">
              <a:alpha val="8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8600"/>
            <a:ext cx="320040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57200" y="1097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Praktikum Pemrograman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10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2 Dimensi (Matrix)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36576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Semester Ganjil 2025/2026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2743200"/>
            <a:ext cx="338328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23560" y="288036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matrix[3][3]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 5, 6},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{7, 8, 9}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matrix[1][2] =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Sinergi dengan MK Algoritma Pemrograman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515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📎 Referensi Teori: MK Algoritma Pemrograman - Pertemuan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 Matrix dan operasinya sudah dibahas. Di praktikum: IMPLEMENTASI matrix di C++.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Algoritma (Teori)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Konsep matrix &amp; representasi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Algoritma traversal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 matrix (transpose)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Penjumlahan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Trace table untuk nested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011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754880" y="2011680"/>
            <a:ext cx="393192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💻 Praktikum (Coding)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256032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array 2D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untuk traversal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Input/output matrix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Operasi: sum per baris/kolom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Transpose &amp; diagonal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Matrix = Array 2D = Tabel data dengan baris dan kolom!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Capaian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CPL06: Mampu menganalisis dan mengimplementasi konsep dasar matematika, statistika, algoritma dan sistem komputer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Sub-CPMK Pertemuan 10: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377440"/>
            <a:ext cx="54864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4505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88720" y="24505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Mendeklarasikan dan menginisialisasi array 2 dimensi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0" y="24505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834640"/>
            <a:ext cx="54864" cy="4114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29077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9077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Mengakses elemen matrix menggunakan index [baris][kolom]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0" y="29077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29184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40080" y="3364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88720" y="33649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Menggunakan nested loop untuk traversal matrix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33649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57200" y="3749040"/>
            <a:ext cx="54864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3822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8221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Mengimplementasikan operasi dasar matrix (sum, transpose)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38221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4206240"/>
            <a:ext cx="54864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2793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27939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Menjelaskan perbedaan array 1D dan 2D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27939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Outline Pertemuan 10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150 menit pembelajaran aktif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1887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10'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5361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 Array 1D (P9)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8745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219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Tantangan: tabel nilai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25603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97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9077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Matrix: deklarasi, traversal, operasi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57200" y="32461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50'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337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5935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matrix bertingkat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0292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57200" y="3931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25'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0233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4279392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soal assessment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1188720"/>
            <a:ext cx="32004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6692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Topik Hari Ini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852160" y="1783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Apa itu Array 2D?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52160" y="21305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Deklarasi &amp; Inisialisasi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2478024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Akses [baris][kolom]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2825496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Traversal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52160" y="3172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Operasi Matrix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3520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Transpose &amp; Diagonal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REVIEW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Recap: Array 1 Dimensi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8288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4630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 1D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nilai[5] = {85, 90, 78, 92, 88};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5; i++)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nilai[i] &lt;&lt; " 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93776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 Array 1D: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0" y="1920240"/>
            <a:ext cx="548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669280" y="1920240"/>
            <a:ext cx="548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66928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309360" y="1920240"/>
            <a:ext cx="548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0936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9440" y="1920240"/>
            <a:ext cx="548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94944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589520" y="1920240"/>
            <a:ext cx="54864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589520" y="1920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58952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[4]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5204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🤔 Bagaimana jika data perlu BARIS dan KOLOM?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39319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 Nilai 3 mahasiswa untuk 4 mata kuliah?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Butuh struktur TABEL (baris = mahasiswa, kolom = mata kuliah)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 Solusi: Array 2 Dimensi (Matrix)!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💪 STRUGGLE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Tantangan 15 Menit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Misi: Simpan &amp; Tampilkan Tabel Nilai!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4572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Simpan data nilai 3 mahasiswa untuk 4 mata kuliah: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MK1   MK2   MK3   MK4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 1:    85    90    78    88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 2:    75    80    85    90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Mhs 3:    90    85    92    88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Simpan dalam struktur yang tepat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Tampilkan dalam format tabel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Hitung rata-rata setiap mahasiswa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94960" y="2011680"/>
            <a:ext cx="3108960" cy="22860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0" y="21031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Hint: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nilai[3][4];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Akses: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nilai[0][0] = MK1 Mhs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nilai[1][2] = MK3 Mhs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nilai[2][3] = MK4 Mhs 3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🔍 Explore dulu, kita bahas setelah ini!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Apa itu Array 2 Dimensi?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📦 Array 2D = Kumpulan data yang disusun dalam BARIS dan KOLOM (seperti tabel/matrix)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Visualisasi Matrix 3x4: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37160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031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175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2788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63040" y="3108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03120" y="310896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03120" y="3108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310896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017520" y="3108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310896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931920" y="3108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310896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46320" y="31089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463040" y="36118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03120" y="361188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103120" y="3611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017520" y="361188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3017520" y="3611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361188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931920" y="3611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61188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46320" y="36118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63040" y="4114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103120" y="411480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103120" y="4114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017520" y="411480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3017520" y="4114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931920" y="411480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931920" y="4114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4114800"/>
            <a:ext cx="73152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846320" y="41148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0080" y="329184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nilai[3][4]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94360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(row)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3474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489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↓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0" y="4023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Kolom (column) →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" y="4892040"/>
            <a:ext cx="8229600" cy="50292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0080" y="49834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Index dimulai dari 0! Matrix[3][4] → baris 0-2, kolom 0-3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MATERI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 &amp; Inisialisasi Array 2D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tipe_data nama_array[jumlah_baris][jumlah_kolom];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2267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Deklarasi saja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matrix[3][4];  // 3 baris, 4 kolom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0" y="23774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ditentukan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9535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Inisialisasi langsung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m[2][3] = {{1,2,3}, {4,5,6}};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5216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Isi per baris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36393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Inisialisasi flatten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8862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m[2][3] = {1,2,3,4,5,6};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0" y="3749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Urut kiri-kanan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0080" y="43251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Sebagian (sisanya 0)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5720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m[2][3] = {{1,2}, {4}};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0" y="4434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Sisanya otomatis 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983480"/>
            <a:ext cx="8229600" cy="41148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504748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Best Practice: Gunakan konstanta → const int ROWS = 3; const int COLS = 4;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Akses Elemen Array 2D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06B6D4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Akses elemen: nama_array[baris][kolom]  →  Index dimulai dari 0!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5720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916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nilai[3][4] =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{85, 90, 78, 88},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{75, 80, 85, 90},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{90, 85, 92, 88}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Membaca elemen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nilai[0][0];  // 85 (baris 0, kolom 0)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nilai[1][2];  // 85 (baris 1, kolom 2)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nilai[2][3];  // 88 (baris 2, kolom 3)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Mengubah elemen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nilai[1][0] = 80;     // baris 1, kolom 0 jadi 80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12080" y="1600200"/>
            <a:ext cx="3474720" cy="25603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94960" y="1691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126480" y="20116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2648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20116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76656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406640" y="20116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40664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4688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4688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12648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2468880"/>
            <a:ext cx="54864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6656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06640" y="24688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0664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29260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29260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12648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766560" y="2926080"/>
            <a:ext cx="548640" cy="36576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76656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2926080"/>
            <a:ext cx="54864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406640" y="29260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0" y="35204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nilai[1][2] = 85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37947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nilai[2][3] = 88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EF4444">
              <a:alpha val="15000"/>
            </a:srgbClr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443484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HATI-HATI: Akses di luar range → UNDEFINED BEHAVIOR!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nilai[3][0] atau nilai[0][4] = ERROR!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Nested Loop untuk Traversal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14B8A6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🔄 Loop luar = BARIS, Loop dalam = KOLOM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572000" cy="25603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4592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ROWS = 3, COLS = 4;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nilai[ROWS][COLS] = {...};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Traversal: cetak semua elemen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i++) {      // Loop BARIS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COLS; j++) {  // Loop KOLOM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nilai[i][j] &lt;&lt; " 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  // Pindah baris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12080" y="1554480"/>
            <a:ext cx="34747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394960" y="1645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Urutan Akses: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19202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i=0: [0][0] [0][1] [0][2] [0][3]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i=1: [1][0] [1][1] [1][2] [1][3]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i=2: [2][0] [2][1] [2][2] [2][3]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85 90 78 88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75 80 85 90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90 85 92 88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Pola: for(baris) { for(kolom) { proses[baris][kolom] }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baris = kontrol vertikal, Loop kolom = kontrol horizontal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Input Matrix dari Keyboard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0175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94360" y="96012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ROWS = 3, COLS = 4;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nilai[ROWS][COLS];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"Masukkan nilai matrix " &lt;&lt; ROWS &lt;&lt; "x" &lt;&lt; COLS &lt;&lt; ":" &lt;&lt; endl;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COLS; j++)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"nilai[" &lt;&lt; i &lt;&lt; "][" &lt;&lt; j &lt;&lt; "] = 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nilai[i][j];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cout &lt;&lt; "\nMatrix yang diinput:"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COLS; j++)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nilai[i][j] &lt;&lt; "\t";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endl;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41605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Tips: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Gunakan \t (tab) untuk perataan kolom yang rapi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Tambahkan endl setelah setiap baris selesai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Bisa juga pakai setw() dari &lt;iomanip&gt; untuk lebar kolom tetap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Operasi: Jumlah per Baris &amp; Kolom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Jumlah per BARIS: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sumBaris 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COLS; j++)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sumBaris += nilai[i][j];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"Baris " &lt;&lt; i &lt;&lt; ": "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 sumBaris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28600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Jumlah per KOLOM: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j = 0; j &lt; COLS; j++)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sumKolom = 0;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i = 0; i &lt; ROWS; i++)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sumKolom += nilai[i][j];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"Kolom " &lt;&lt; j &lt;&lt; ": " 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&lt;&lt; sumKolom &lt;&lt; endl;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383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🔑 Perbedaan Kunci: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3657600" cy="54864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per Baris: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luar: i (baris tetap)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dalam: j (kolom berubah)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3703320"/>
            <a:ext cx="3657600" cy="54864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63440" y="3749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per Kolom: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luar: j (kolom tetap)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dalam: i (baris berubah)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Inisialisasi sum = 0 di loop LUAR (reset setiap baris/kolom baru)!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Transpose Matrix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solidFill>
            <a:srgbClr val="EC4899">
              <a:alpha val="15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Transpose = Tukar baris menjadi kolom (dan sebaliknya) → A[i][j] → B[j][i]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029200" cy="237744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1691640"/>
            <a:ext cx="4754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ROWS = 3, COLS = 4;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A[ROWS][COLS] = {...};  // 3x4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B[COLS][ROWS];          // 4x3 (ukuran terbalik!)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Transpose: A[i][j] → B[j][i]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ROWS; i++)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(int j = 0; j &lt; COLS; j++)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B[j][i] = A[i][j];  // Tukar index!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669280" y="1600200"/>
            <a:ext cx="3017520" cy="23774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852160" y="16916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Visualisasi: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852160" y="1965960"/>
            <a:ext cx="26517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(3x4):         B (4x3):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1 2 3 4          1 5 9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6 7 8    →     2 6 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9 . . .          3 7 .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4 8 .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A[0][1]=2 → B[1][0]=2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A[2][0]=9 → B[0][2]=9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4160520"/>
            <a:ext cx="8229600" cy="777240"/>
          </a:xfrm>
          <a:prstGeom prst="rect">
            <a:avLst/>
          </a:prstGeom>
          <a:solidFill>
            <a:srgbClr val="F59E0B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42519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Perhatikan: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Ukuran hasil transpose TERBALIK: A[m][n] → B[n][m]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Untuk matrix PERSEGI (n×n), bisa transpose in-place (tanpa array baru)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Diagonal Matrix (Persegi)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Diagonal Utama (i == j):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m[3][3] =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{1, 2, 3},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{4, 5, 6},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{7, 8, 9}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sumDiag = 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sumDiag += m[i][i];  // [0][0],[1][1],[2][2]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sumDiag = 1 + 5 + 9 = 15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3931920" cy="2103120"/>
          </a:xfrm>
          <a:prstGeom prst="rect">
            <a:avLst/>
          </a:prstGeom>
          <a:solidFill>
            <a:srgbClr val="282C3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84632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Diagonal Sekunder (i + j == n-1):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18872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sumAnti = 0;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0; i &lt; 3; i++) {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sumAnti += m[i][3-1-i];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[0][2], [1][1], [2][0]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sumAnti = 3 + 5 + 7 = 15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Atau: j = n - 1 - 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Visualisasi Diagonal: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611880"/>
            <a:ext cx="54864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3611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54480" y="3611880"/>
            <a:ext cx="54864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554480" y="3611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94560" y="3611880"/>
            <a:ext cx="548640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2194560" y="36118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069080"/>
            <a:ext cx="54864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54480" y="4069080"/>
            <a:ext cx="54864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554480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194560" y="4069080"/>
            <a:ext cx="54864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194560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526280"/>
            <a:ext cx="548640" cy="41148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4526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554480" y="4526280"/>
            <a:ext cx="548640" cy="4114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554480" y="4526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94560" y="4526280"/>
            <a:ext cx="548640" cy="4114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194560" y="45262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0" y="3657600"/>
            <a:ext cx="548640" cy="3200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840480" y="37033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Diagonal Utama (i == j)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4069080"/>
            <a:ext cx="548640" cy="32004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840480" y="41148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Diagonal Sekunder (i+j == n-1)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0" y="4480560"/>
            <a:ext cx="54864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840480" y="4526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= Titik tengah (kedua diagonal)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🐛 ERRORS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Common Errors Array 2D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533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Tukar baris-kolom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m[kolom][baris]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291840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m[baris][kolom]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43600" y="1463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dulu!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Index out of bounds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m[3][4] di array [3][4]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91840" y="228600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Max: m[2][3]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43600" y="21214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 s/d n-1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596896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" y="267004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Loop batas salah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i &lt;= ROWS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91840" y="294436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i &lt; ROWS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43600" y="27797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Pakai &lt; bukan &lt;=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255264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32841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Transpose ukuran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6027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B[ROWS][COLS]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291840" y="360273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B[COLS][ROWS]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43600" y="34381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Ukuran terbalik!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913632"/>
            <a:ext cx="8229600" cy="5943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40080" y="398678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tidak reset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42611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sum += di luar loop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291840" y="426110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sum = 0 di awal loop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943600" y="4096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Reset per baris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Ingat: [BARIS][KOLOM] = [ROW][COL] = [i][j]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⌨️ HANDS-ON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Bertingkat (50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EASY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46888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Deklarasi, input/output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Traversal matrix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65176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9184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MEDIUM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20'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baris/kolom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Cari max/min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65176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0" y="13898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138988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15'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63640" y="196596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Operasi diagonal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Konsep yang dilatih: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Nested loop traversal    • Sum per baris/kolom    • Transpose matrix    • Diagonal operations    • Max/min dalam matrix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 EASY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Easy: Dasar Matrix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&amp; Cetak Matrix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3x3 dari keyboard. Cetak dalam format tabel yang rapi dengan tab.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Inisialisasi &amp; Tampilkan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matrix 2x4 dengan nilai awal. Tampilkan semua elemen dengan nested loop.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Jumlah Semua Elemen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3x3. Hitung dan tampilkan jumlah SELURUH elemen dalam matrix.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Lanjut ke Level Medium!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⭐⭐ MEDIUM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Medium: Operasi Matrix (20')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48132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&amp; Avg per Baris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73736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3x4 (nilai mahasiswa). Hitung jumlah dan rata-rata setiap baris (mahasiswa).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40080" y="248716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2487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3774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per Kolom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7432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3x4. Hitung jumlah setiap kolom (total nilai per mata kuliah).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Max &amp; Min dalam Matrix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3x3. Cari nilai TERBESAR dan TERKECIL beserta posisinya [i][j].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Selesai semua? Tantang dirimu di Level Challenge!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Challenge: Lanjutan (15')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7️⃣ Transpose Matrix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Transpose menjadi matrix 4x3.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matrix asli dan hasil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transpose dalam format tabel.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8️⃣ Operasi Diagonal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PERSEGI 4x4.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jumlah diagonal utama.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Hitung jumlah diagonal sekunder.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Tampilkan kedua hasil.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657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🏆 Super Challenge: Matrix Magic Square Checker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Input matrix 3x3. Cek apakah matrix tersebut adalah Magic Square!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(Magic Square = jumlah setiap baris, kolom, dan kedua diagonal SAMA)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EXIT TICKET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Assessment Individual (25 menit)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1645920"/>
          </a:xfrm>
          <a:prstGeom prst="rect">
            <a:avLst/>
          </a:prstGeom>
          <a:solidFill>
            <a:srgbClr val="EF4444">
              <a:alpha val="12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⚠️ ATURAN KETAT: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Dikerjakan SENDIRI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bantuan AI/ChatGPT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browsing internet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TANPA diskusi dengan teman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Pelanggaran = nilai 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93776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Struktur 10 Soal: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 soal CODING (70%)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Matrix operations, traversal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soal KONSEP (30%)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Index, nested loop, transpose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Soal: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931920" cy="1280160"/>
          </a:xfrm>
          <a:prstGeom prst="rect">
            <a:avLst/>
          </a:prstGeom>
          <a:solidFill>
            <a:srgbClr val="3B82F6">
              <a:alpha val="1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Coding: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yang menghitung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rata-rata setiap baris dalam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matrix 3x4 yang diinput user.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520440"/>
            <a:ext cx="3931920" cy="1280160"/>
          </a:xfrm>
          <a:prstGeom prst="rect">
            <a:avLst/>
          </a:prstGeom>
          <a:solidFill>
            <a:srgbClr val="10B981">
              <a:alpha val="1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892040" y="3611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Konsep: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3886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m[3][4];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Sebutkan baris &amp; kolom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elemen m[1][2] (index dari 0).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📋 Tugas Minggu Ini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914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Tugas: Sistem Nilai Kelas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program untuk mengelola nilai kelas dengan ketentuan: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Input jumlah mahasiswa (max 40) dan jumlah mata kuliah (max 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Input nama setiap mahasiswa (array 1D string)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Input nilai setiap mahasiswa untuk setiap MK (matrix 2D)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Tampilkan tabel nilai dengan format rapi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Hitung dan tampilkan: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Rata-rata setiap mahasiswa (per baris)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Rata-rata setiap mata kuliah (per kolom)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Nilai tertinggi dan terendah keseluruhan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  • Mahasiswa dengan rata-rata tertinggi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Validasi semua input (nilai 0-100)!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Tampilkan grafik bar sederhana dengan karakter *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297680"/>
            <a:ext cx="3931920" cy="640080"/>
          </a:xfrm>
          <a:prstGeom prst="rect">
            <a:avLst/>
          </a:prstGeom>
          <a:solidFill>
            <a:srgbClr val="F59E0B">
              <a:alpha val="15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⏰ Deadline: Sebelum Pertemuan 11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📤 Submit via GDB Online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4297680"/>
            <a:ext cx="39319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Gunakan const untuk ukuran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Nested loop untuk semua operasi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📚 Referensi Belajar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" cy="11430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📖 Buku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Deitel - C++ How to Program, Chapter 7.9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Stroustrup - Programming Principles, Chapter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2194560"/>
            <a:ext cx="91440" cy="114300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31520" y="2286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🌐 Online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learncpp.com/cpp-tutorial/multidimensional-arrays/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cplusplus.com/doc/tutorial/arrays/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geeksforgeeks.org/multidimensional-arrays-c-cpp/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3474720"/>
            <a:ext cx="91440" cy="1143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🔗 MK Algoritma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Pertemuan 10: Konsep Matrix &amp; Operasinya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Algoritma transpose &amp; diagonal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💡 Minggu depan: String &amp; Character Array!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Perbandingan Array 1D vs 2D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822960"/>
            <a:ext cx="3931920" cy="45720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1 Dimensi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arr[5];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Traversal: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(i=0; i&lt;n; i++)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arr[i]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Linear (baris tunggal)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Nilai 1 mahasiswa, daftar harga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822960"/>
            <a:ext cx="393192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754880" y="822960"/>
            <a:ext cx="3931920" cy="45720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2 Dimensi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3716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16002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arr[3][4];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37760" y="19202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1488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arr[i][j]  (baris, kolom)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24688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Traversal: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3776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(j) arr[i][j]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3246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Tabel (baris × kolom)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3794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3776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Nilai banyak mhs, papan catur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📝 Ringkasan Pertemuan 10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82296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40080" y="9601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Array 2D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377440" y="9601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Struktur data tabel: baris × kolom (matrix)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46304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6002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Deklarasi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tipe nama[ROWS][COLS]; atau dengan inisialisasi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10312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40080" y="2240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Akses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240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[baris][kolom] — index dimulai dari 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74320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" y="28803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Traversal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8803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Nested loop: for(baris){ for(kolom){ } }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3383280"/>
            <a:ext cx="73152" cy="54864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35204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Operasi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5204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Sum baris/kolom, transpose, diagonal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282C3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4206240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Template matrix operation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R=3, C=4; int m[R][C];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84CC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i=0; i&lt;R; i++) { for (int j=0; j&lt;C; j++) { /* m[i][j] */ } }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Computers are good 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following instructions,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but not at reading your mind.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- Donald Knuth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657600"/>
            <a:ext cx="6400800" cy="1188720"/>
          </a:xfrm>
          <a:prstGeom prst="rect">
            <a:avLst/>
          </a:prstGeom>
          <a:solidFill>
            <a:srgbClr val="1E293B">
              <a:alpha val="50000"/>
            </a:srgbClr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554480" y="379476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🧠 Matrix adalah cara kita 'mengajar' komputer memahami data tabular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📊 Dari spreadsheet hingga image processing — matrix ada di mana-mana!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🚀 Kuasai nested loop = kuasai pemrograman kompleks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06B6D4">
              <a:alpha val="7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6366F1">
              <a:alpha val="7000"/>
            </a:srgbClr>
          </a:solidFill>
          <a:ln/>
        </p:spPr>
        <p:txBody>
          <a:bodyPr/>
          <a:p/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457200"/>
            <a:ext cx="365760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IF25-11002 Praktikum Pemrograman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Pertemuan 10: Array 2 Dimensi (Matrix)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286000" y="3474720"/>
            <a:ext cx="4572000" cy="109728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286000" y="36118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Program Studi Teknik Informatika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Institut Teknologi Sumatera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Sampai jumpa di Pertemuan 11: String!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Pemrograman - Pertemuan 10</dc:title>
  <dc:subject>PptxGenJS Presentation</dc:subject>
  <dc:creator>PptxGenJS</dc:creator>
  <cp:lastModifiedBy>PptxGenJS</cp:lastModifiedBy>
  <cp:revision>1</cp:revision>
  <dcterms:created xsi:type="dcterms:W3CDTF">2026-03-10T05:45:06Z</dcterms:created>
  <dcterms:modified xsi:type="dcterms:W3CDTF">2026-03-10T05:45:06Z</dcterms:modified>
</cp:coreProperties>
</file>